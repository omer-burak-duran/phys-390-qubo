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D8894-BD94-A373-FF05-D821390869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F74585-24B4-11BF-769A-A3A2DC369D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B164D-3118-2F46-7993-F72405512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2E03A-581C-462D-B744-86935EE8DF9C}" type="datetimeFigureOut">
              <a:rPr lang="en-US" smtClean="0"/>
              <a:t>03/12/2026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DD887-A53E-517E-D62B-D55B86230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50697-9D39-953A-6582-A00C75714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F1B29-38E4-4704-BA5B-60E14D6E2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237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65FBB-03A5-EF89-255F-8E7934953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DD528-34B0-DEA8-6810-812878979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BF519-AD1C-ED33-977F-4BE5EC4A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2E03A-581C-462D-B744-86935EE8DF9C}" type="datetimeFigureOut">
              <a:rPr lang="en-US" smtClean="0"/>
              <a:t>03/12/2026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0274C-2306-7793-9E60-405688C2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4AA46-F6CD-92CE-49F9-F72C32DEF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F1B29-38E4-4704-BA5B-60E14D6E2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407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65B46-E580-76C4-5660-78F26B15D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89551-0411-3FEC-B17A-DBD4D1CCC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0F53C-1911-358F-F3BB-07BAB3248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2E03A-581C-462D-B744-86935EE8DF9C}" type="datetimeFigureOut">
              <a:rPr lang="en-US" smtClean="0"/>
              <a:t>03/12/2026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B3FC8-C7D8-B9E2-8453-27A7AF196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9A295-A0AE-5CB8-23E5-7C363BA40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F1B29-38E4-4704-BA5B-60E14D6E2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155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ABDEA-44FD-6BEC-EA8E-8B2C7E834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74528-54AB-53CF-3BD7-3CC78951D7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6CBAF9-B809-DDEC-02EF-3A1991BF47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07CD7E-306E-5B78-3D37-25B1CD0EA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2E03A-581C-462D-B744-86935EE8DF9C}" type="datetimeFigureOut">
              <a:rPr lang="en-US" smtClean="0"/>
              <a:t>03/12/2026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7DF514-D152-54D6-AA23-1DCC106F8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AE6186-DC5D-B246-BC6C-216313121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F1B29-38E4-4704-BA5B-60E14D6E2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524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63EE2-F368-6051-619C-226B12EFF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0DD0AB-6E86-5244-92C3-44AAC7D73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1B24AE-F616-18A1-7A14-2EB4CB828A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173F80-95F6-A077-7BCD-3C3F8AB4CC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3F0A43-A23D-096D-B762-2AE1CAE4D8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783F40-AED5-B095-DF8B-D21BC9A38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2E03A-581C-462D-B744-86935EE8DF9C}" type="datetimeFigureOut">
              <a:rPr lang="en-US" smtClean="0"/>
              <a:t>03/12/2026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AAFDE2-8EA8-C383-0A1C-9AB3ED102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9D97CF-02F5-2368-78F7-8D4230D43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F1B29-38E4-4704-BA5B-60E14D6E2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358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DB952-016C-13B1-6DE3-8A7CCA9A2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957F0A-CE41-95D7-70DF-CF0FB9F99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2E03A-581C-462D-B744-86935EE8DF9C}" type="datetimeFigureOut">
              <a:rPr lang="en-US" smtClean="0"/>
              <a:t>03/12/2026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08F23B-FC58-9718-2BD1-F1B79F9AA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F38ECF-AE0C-24E1-DC62-2C7319351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F1B29-38E4-4704-BA5B-60E14D6E2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23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37E0E3-2329-E21D-2F42-B5EBBD178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2E03A-581C-462D-B744-86935EE8DF9C}" type="datetimeFigureOut">
              <a:rPr lang="en-US" smtClean="0"/>
              <a:t>03/12/2026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9A3CE9-9BCE-56C6-6DC1-A4901C9BD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E8ED4A-A77D-666F-F6B9-FD45D9087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F1B29-38E4-4704-BA5B-60E14D6E2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432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E25F1-3194-0447-6549-507C021B7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0DDCE-581E-83E5-632C-A9468EE08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EC3078-F720-9E1E-D81F-9878F54816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A43AE5-1AEF-7EFD-DE97-98B41EB68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2E03A-581C-462D-B744-86935EE8DF9C}" type="datetimeFigureOut">
              <a:rPr lang="en-US" smtClean="0"/>
              <a:t>03/12/2026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BD3958-3397-CD57-FB93-C337F22A6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BF837B-FFD8-6DD8-A0C4-C7B17C1F9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F1B29-38E4-4704-BA5B-60E14D6E2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977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B2685-8BDC-A2A8-6A64-EDCF2C846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2869DE-CD56-34A3-4D14-80FAE6EE1B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5106B2-3C76-FC6A-76F1-20A7DD68DB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AD0714-BEEC-28EA-5702-440C12EE7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2E03A-581C-462D-B744-86935EE8DF9C}" type="datetimeFigureOut">
              <a:rPr lang="en-US" smtClean="0"/>
              <a:t>03/12/2026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1325DE-67B2-103A-6B3B-BE37B5F4C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4A962D-B423-416F-7AD8-CFE6857C8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F1B29-38E4-4704-BA5B-60E14D6E2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688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A7A4F-84B8-363A-F446-446352492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6C02CC-0EA7-3F63-DB87-FEC7D07B7A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DBC58-D0F8-A888-10C3-F8CE4AFDB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2E03A-581C-462D-B744-86935EE8DF9C}" type="datetimeFigureOut">
              <a:rPr lang="en-US" smtClean="0"/>
              <a:t>03/12/2026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D26A8-E17E-8283-FCF0-CF7B8F0F9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E6004-36B8-2F8F-4AE7-FB6CA0285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F1B29-38E4-4704-BA5B-60E14D6E2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855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E7AC9A-F41B-CFB5-E64C-127F093C0D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17DCA1-8716-2A61-D8C2-8C31C7C501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D0AAD-6968-2DA4-69A1-AD95CA189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2E03A-581C-462D-B744-86935EE8DF9C}" type="datetimeFigureOut">
              <a:rPr lang="en-US" smtClean="0"/>
              <a:t>03/12/2026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B2DA9-689F-1D37-07AE-3E10B1FDA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8AB45-7B03-31C2-EC6D-6667734FF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F1B29-38E4-4704-BA5B-60E14D6E2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701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282DEA-81F6-F224-D50E-1FB641FB3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4EAD7-7636-2D4E-C0CF-46C583FCD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91EF4-91F6-3020-F9C1-00DD53340A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E2E03A-581C-462D-B744-86935EE8DF9C}" type="datetimeFigureOut">
              <a:rPr lang="en-US" smtClean="0"/>
              <a:t>03/12/2026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A9282-718B-AA03-FC8D-C671B941FA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07224-A962-EBF5-F693-28A46B04CD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5F1B29-38E4-4704-BA5B-60E14D6E2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349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3E4FE-6B48-BA76-3F1F-F33BBBE892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PHYS 390: Independent Study </a:t>
            </a:r>
            <a:br>
              <a:rPr lang="en-US" sz="4000" dirty="0"/>
            </a:br>
            <a:r>
              <a:rPr lang="en-US" sz="4000" dirty="0"/>
              <a:t>Variational Quantum Algorithms for Combinatorial Optimization and Modeling</a:t>
            </a:r>
            <a:br>
              <a:rPr lang="en-US" sz="4000" dirty="0"/>
            </a:br>
            <a:r>
              <a:rPr lang="en-US" sz="4000" dirty="0"/>
              <a:t>Progress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DC36D3-EEA5-5DB0-B229-3CE9089930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Name: Ömer Burak Duran</a:t>
            </a:r>
          </a:p>
          <a:p>
            <a:r>
              <a:rPr lang="en-US" dirty="0"/>
              <a:t>Instructor: Prof. Özgür E. </a:t>
            </a:r>
            <a:r>
              <a:rPr lang="en-US" dirty="0" err="1"/>
              <a:t>Müstecaplıoğlu</a:t>
            </a:r>
            <a:endParaRPr lang="en-US" dirty="0"/>
          </a:p>
          <a:p>
            <a:r>
              <a:rPr lang="en-US" dirty="0"/>
              <a:t>Date: 13/03/2026</a:t>
            </a:r>
          </a:p>
        </p:txBody>
      </p:sp>
    </p:spTree>
    <p:extLst>
      <p:ext uri="{BB962C8B-B14F-4D97-AF65-F5344CB8AC3E}">
        <p14:creationId xmlns:p14="http://schemas.microsoft.com/office/powerpoint/2010/main" val="3458683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44FE7-B541-E5D1-FB1A-A36DF55BE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Weekly Log: 2026.03.06 - 2026.03.13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E3C93-0B08-EB18-3B0C-286CF38E9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[X] Research about QUBO, QAOA, VQE, and relevant benchmark problems</a:t>
            </a:r>
          </a:p>
          <a:p>
            <a:r>
              <a:rPr lang="en-US" dirty="0"/>
              <a:t>[X] Continue studying the following papers: </a:t>
            </a:r>
          </a:p>
          <a:p>
            <a:pPr lvl="1"/>
            <a:r>
              <a:rPr lang="en-US" dirty="0"/>
              <a:t>"Quantum Bridge Analytics: A Tutorial on Formulating and Using QUBO Models"</a:t>
            </a:r>
          </a:p>
          <a:p>
            <a:pPr lvl="1"/>
            <a:r>
              <a:rPr lang="en-US" dirty="0"/>
              <a:t>"A Quantum Approximate Optimization Algorithm"</a:t>
            </a:r>
          </a:p>
          <a:p>
            <a:r>
              <a:rPr lang="en-US" dirty="0"/>
              <a:t>[X] Study demo implementations that use QUBO</a:t>
            </a:r>
          </a:p>
          <a:p>
            <a:r>
              <a:rPr lang="en-US" dirty="0"/>
              <a:t>[X] Research about PennyLane library on Python</a:t>
            </a:r>
          </a:p>
          <a:p>
            <a:r>
              <a:rPr lang="en-US" dirty="0"/>
              <a:t>[X] Try demo for 4-Node </a:t>
            </a:r>
            <a:r>
              <a:rPr lang="en-US" dirty="0" err="1"/>
              <a:t>MaxCut</a:t>
            </a:r>
            <a:r>
              <a:rPr lang="en-US" dirty="0"/>
              <a:t> using QAOA with PennyLane</a:t>
            </a:r>
          </a:p>
        </p:txBody>
      </p:sp>
    </p:spTree>
    <p:extLst>
      <p:ext uri="{BB962C8B-B14F-4D97-AF65-F5344CB8AC3E}">
        <p14:creationId xmlns:p14="http://schemas.microsoft.com/office/powerpoint/2010/main" val="4098930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58147-FBDE-3C79-D72B-457DAC35C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8ADE4-ED1A-34A8-009E-26B701FDF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QUBO: </a:t>
            </a:r>
            <a:br>
              <a:rPr lang="en-US" dirty="0"/>
            </a:br>
            <a:r>
              <a:rPr lang="en-US" dirty="0"/>
              <a:t>Quantum Unconstrained Binary Optimization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EEA762-55AC-FDFE-9DBA-A1C24A339F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Writing an optimization problem using binary variables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ar-AE" dirty="0"/>
              </a:p>
              <a:p>
                <a:r>
                  <a:rPr lang="en-US" dirty="0"/>
                  <a:t>General form: </a:t>
                </a:r>
              </a:p>
              <a:p>
                <a:pPr lvl="1"/>
                <a:r>
                  <a:rPr lang="en-US" dirty="0"/>
                  <a:t>maximize or minimize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ar-AE" i="1">
                        <a:latin typeface="Cambria Math" panose="02040503050406030204" pitchFamily="18" charset="0"/>
                      </a:rPr>
                      <m:t>𝑄𝑥</m:t>
                    </m:r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r>
                      <a:rPr lang="ar-AE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has coefficients of the problem</a:t>
                </a:r>
              </a:p>
              <a:p>
                <a:pPr lvl="1"/>
                <a:r>
                  <a:rPr lang="en-US" dirty="0"/>
                  <a:t>Linear terms on the diagonal</a:t>
                </a:r>
              </a:p>
              <a:p>
                <a:pPr lvl="1"/>
                <a:r>
                  <a:rPr lang="en-US" dirty="0"/>
                  <a:t>Quadratic interaction terms  on the off-diagonal</a:t>
                </a:r>
              </a:p>
              <a:p>
                <a:r>
                  <a:rPr lang="en-US" dirty="0"/>
                  <a:t>Most combinatorial optimization problems can be written as QUBO</a:t>
                </a:r>
              </a:p>
              <a:p>
                <a:r>
                  <a:rPr lang="en-US" dirty="0"/>
                  <a:t>A universal target format for many NP-hard problems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EEA762-55AC-FDFE-9DBA-A1C24A339F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5054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D2982-266B-15C9-D821-AFAA65363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Quantum Approximate Optimization Algorithm</a:t>
            </a:r>
            <a:br>
              <a:rPr lang="en-US" dirty="0"/>
            </a:br>
            <a:r>
              <a:rPr lang="en-US" dirty="0"/>
              <a:t>&amp; Variational Quantum Eigen Solver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69EF2-886C-CCDC-8CF5-B3FEE0DE22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b="1" dirty="0"/>
              <a:t>QAOA</a:t>
            </a:r>
          </a:p>
          <a:p>
            <a:pPr marL="0" indent="0" algn="ctr">
              <a:buNone/>
            </a:pPr>
            <a:endParaRPr lang="en-US" b="1" dirty="0"/>
          </a:p>
          <a:p>
            <a:r>
              <a:rPr lang="en-US" dirty="0"/>
              <a:t>Hybrid quantum-classical algorithm </a:t>
            </a:r>
          </a:p>
          <a:p>
            <a:r>
              <a:rPr lang="en-US" dirty="0"/>
              <a:t>A quantum circuit to prepare the parametrized state</a:t>
            </a:r>
          </a:p>
          <a:p>
            <a:r>
              <a:rPr lang="en-US" dirty="0"/>
              <a:t>A classical optimizer to update the parameters</a:t>
            </a:r>
          </a:p>
          <a:p>
            <a:r>
              <a:rPr lang="en-US" dirty="0"/>
              <a:t>Encode the problem in a cost Hamiltonian</a:t>
            </a:r>
          </a:p>
          <a:p>
            <a:r>
              <a:rPr lang="en-US" dirty="0"/>
              <a:t>Alternate between cost and mixer operator</a:t>
            </a:r>
          </a:p>
          <a:p>
            <a:r>
              <a:rPr lang="en-US" dirty="0"/>
              <a:t>Measure the output and adjust parameters to improve the objective value</a:t>
            </a:r>
          </a:p>
          <a:p>
            <a:r>
              <a:rPr lang="en-US" dirty="0"/>
              <a:t>Designed for combinatorial optimization</a:t>
            </a:r>
          </a:p>
          <a:p>
            <a:r>
              <a:rPr lang="en-US" dirty="0"/>
              <a:t>Commonly used for problems like </a:t>
            </a:r>
            <a:r>
              <a:rPr lang="en-US" dirty="0" err="1"/>
              <a:t>MaxCut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C29964-3515-4DD5-0898-B84DAA0FD0E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b="1" dirty="0"/>
              <a:t>VQE</a:t>
            </a:r>
          </a:p>
          <a:p>
            <a:pPr marL="0" indent="0" algn="ctr">
              <a:buNone/>
            </a:pPr>
            <a:endParaRPr lang="en-US" b="1" dirty="0"/>
          </a:p>
          <a:p>
            <a:r>
              <a:rPr lang="en-US" dirty="0"/>
              <a:t>Also a hybrid quantum-classical algorithm</a:t>
            </a:r>
          </a:p>
          <a:p>
            <a:r>
              <a:rPr lang="en-US" dirty="0"/>
              <a:t>Approximates the lowest energy of a Hamiltonian</a:t>
            </a:r>
          </a:p>
          <a:p>
            <a:r>
              <a:rPr lang="en-US" dirty="0"/>
              <a:t>Prepare a parametrized quantum state, and measure the expected energy</a:t>
            </a:r>
          </a:p>
          <a:p>
            <a:r>
              <a:rPr lang="en-US" dirty="0"/>
              <a:t>Use a classical optimizer to find the parameters that reduces the energy</a:t>
            </a:r>
          </a:p>
          <a:p>
            <a:r>
              <a:rPr lang="en-US" dirty="0"/>
              <a:t>If the optimization problem is written as a Hamiltonian, solving the problem becomes finding a low-energy state</a:t>
            </a:r>
          </a:p>
          <a:p>
            <a:r>
              <a:rPr lang="en-US" dirty="0"/>
              <a:t>Very flexible framework</a:t>
            </a:r>
          </a:p>
        </p:txBody>
      </p:sp>
    </p:spTree>
    <p:extLst>
      <p:ext uri="{BB962C8B-B14F-4D97-AF65-F5344CB8AC3E}">
        <p14:creationId xmlns:p14="http://schemas.microsoft.com/office/powerpoint/2010/main" val="1499394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15CB6-B546-D8C0-6934-72E944B58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F941C-ED5E-90FC-C4EE-760C39FBE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Benchmark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F016F-22AB-FC04-A4FA-EC973E2B0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MaxCut</a:t>
            </a:r>
            <a:endParaRPr lang="en-US" dirty="0"/>
          </a:p>
          <a:p>
            <a:pPr lvl="1"/>
            <a:r>
              <a:rPr lang="en-US" dirty="0"/>
              <a:t>Split graph vertices into two groups</a:t>
            </a:r>
          </a:p>
          <a:p>
            <a:pPr lvl="1"/>
            <a:r>
              <a:rPr lang="en-US" dirty="0"/>
              <a:t>Maximize the number of edges crossing the split</a:t>
            </a:r>
          </a:p>
          <a:p>
            <a:r>
              <a:rPr lang="en-US" dirty="0"/>
              <a:t>Traveling Salesman Problem (TSP)</a:t>
            </a:r>
          </a:p>
          <a:p>
            <a:pPr lvl="1"/>
            <a:r>
              <a:rPr lang="en-US" dirty="0"/>
              <a:t>Visit every city exactly once</a:t>
            </a:r>
          </a:p>
          <a:p>
            <a:pPr lvl="1"/>
            <a:r>
              <a:rPr lang="en-US" dirty="0"/>
              <a:t>Return to the starting city</a:t>
            </a:r>
          </a:p>
          <a:p>
            <a:pPr lvl="1"/>
            <a:r>
              <a:rPr lang="en-US" dirty="0"/>
              <a:t>Minimize total distance</a:t>
            </a:r>
          </a:p>
          <a:p>
            <a:r>
              <a:rPr lang="en-US" dirty="0"/>
              <a:t>Facility Location</a:t>
            </a:r>
          </a:p>
          <a:p>
            <a:pPr lvl="1"/>
            <a:r>
              <a:rPr lang="en-US" dirty="0"/>
              <a:t>Choose which facilities to open</a:t>
            </a:r>
          </a:p>
          <a:p>
            <a:pPr lvl="1"/>
            <a:r>
              <a:rPr lang="en-US" dirty="0"/>
              <a:t>Assign customers to facilities</a:t>
            </a:r>
          </a:p>
          <a:p>
            <a:pPr lvl="1"/>
            <a:r>
              <a:rPr lang="en-US" dirty="0"/>
              <a:t>Minimize total opening and service cost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937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B5ABB-C6ED-FCEA-A625-B3F92B126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1F053-AD62-FB1A-2938-7283BEB38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4-Node </a:t>
            </a:r>
            <a:r>
              <a:rPr lang="en-US" dirty="0" err="1"/>
              <a:t>MaxCut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672C53-FAA7-BC32-6F91-CBB066D767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Graph:</a:t>
                </a:r>
              </a:p>
              <a:p>
                <a:pPr lvl="1"/>
                <a:r>
                  <a:rPr lang="en-US" dirty="0"/>
                  <a:t>Nodes: 1, 2, 3, 4</a:t>
                </a:r>
              </a:p>
              <a:p>
                <a:pPr lvl="1"/>
                <a:r>
                  <a:rPr lang="en-US" dirty="0"/>
                  <a:t>Edges: (1,2), (2,3), (3,4), (4,1)</a:t>
                </a:r>
              </a:p>
              <a:p>
                <a:r>
                  <a:rPr lang="en-US" dirty="0"/>
                  <a:t>Divide the 4 nodes into two sets</a:t>
                </a:r>
              </a:p>
              <a:p>
                <a:r>
                  <a:rPr lang="en-US" dirty="0"/>
                  <a:t>Maximize the number of edges between the two sets</a:t>
                </a:r>
              </a:p>
              <a:p>
                <a:r>
                  <a:rPr lang="en-US" dirty="0"/>
                  <a:t>Binary encoding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value tells which side of the cut node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belongs to</a:t>
                </a:r>
              </a:p>
              <a:p>
                <a:r>
                  <a:rPr lang="en-US" dirty="0"/>
                  <a:t>Optimal partition for this problem: 0101 or 1010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672C53-FAA7-BC32-6F91-CBB066D767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3158B496-1FC7-78A2-84D0-FC716C406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9407" y="865800"/>
            <a:ext cx="2884800" cy="256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283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13DA9-BE85-C51F-8599-D51841FE5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B5E4F-B1A0-B571-2419-F815EC896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4-Node </a:t>
            </a:r>
            <a:r>
              <a:rPr lang="en-US" dirty="0" err="1"/>
              <a:t>MaxCut</a:t>
            </a:r>
            <a:r>
              <a:rPr lang="en-US" dirty="0"/>
              <a:t>: Classical Objective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737D59-1FA0-F4D5-51BF-34E551DD13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For each edge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the edge is cut if the two endpoints are in different sets</a:t>
                </a:r>
              </a:p>
              <a:p>
                <a:r>
                  <a:rPr lang="en-US" dirty="0"/>
                  <a:t>Edge contribution: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For the 4-node cycle: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ar-AE" sz="200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ar-AE" sz="200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ar-AE" sz="200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Contribution = 1 if the edge is cut</a:t>
                </a:r>
              </a:p>
              <a:p>
                <a:r>
                  <a:rPr lang="en-US" dirty="0"/>
                  <a:t>Contribution = 0 otherwise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737D59-1FA0-F4D5-51BF-34E551DD13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4784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0492B-B412-114D-3D60-22F071D71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54413-D299-EFBC-F0EE-B7869D698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4-Node </a:t>
            </a:r>
            <a:r>
              <a:rPr lang="en-US" dirty="0" err="1"/>
              <a:t>MaxCut</a:t>
            </a:r>
            <a:r>
              <a:rPr lang="en-US" dirty="0"/>
              <a:t>: QUBO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D02B9E-3F25-ACDF-4C44-C0A69E1711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After collecting terms: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ar-AE" i="1">
                          <a:latin typeface="Cambria Math" panose="02040503050406030204" pitchFamily="18" charset="0"/>
                        </a:rPr>
                        <m:t>𝑄𝑥</m:t>
                      </m:r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One possible matrix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Diagonal terms represent linear contributions</a:t>
                </a:r>
              </a:p>
              <a:p>
                <a:r>
                  <a:rPr lang="en-US" dirty="0"/>
                  <a:t>Off-diagonal terms represent interactions between variables</a:t>
                </a:r>
              </a:p>
              <a:p>
                <a:r>
                  <a:rPr lang="en-US" dirty="0"/>
                  <a:t>Now the graph problem is written in standard QUBO form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D02B9E-3F25-ACDF-4C44-C0A69E1711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b="-36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1099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AB7BF-E612-A736-C5F4-A6A857B9D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7DB2C-BE18-C933-7ABE-0F3155380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4-Node </a:t>
            </a:r>
            <a:r>
              <a:rPr lang="en-US" dirty="0" err="1"/>
              <a:t>MaxCut</a:t>
            </a:r>
            <a:r>
              <a:rPr lang="en-US" dirty="0"/>
              <a:t>: Ising / Hamiltonian Form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0F7D37-FB59-10B6-33B6-5968E5EA65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Changing variables from binary to spins: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A common mapping: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Then the </a:t>
                </a:r>
                <a:r>
                  <a:rPr lang="en-US" dirty="0" err="1"/>
                  <a:t>MaxCut</a:t>
                </a:r>
                <a:r>
                  <a:rPr lang="en-US" dirty="0"/>
                  <a:t> objective becomes:</a:t>
                </a:r>
              </a:p>
              <a:p>
                <a:pPr marL="0" indent="0" algn="ctr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supHide m:val="on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d>
                          <m:dPr>
                            <m:sepChr m:val=",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  <m:r>
                          <a:rPr lang="ar-AE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  <m:sup/>
                      <m:e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num>
                          <m:den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nary>
                  </m:oMath>
                </a14:m>
                <a:endParaRPr lang="ar-AE" dirty="0"/>
              </a:p>
              <a:p>
                <a:r>
                  <a:rPr lang="en-US" dirty="0"/>
                  <a:t>Quantum operator form: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sepChr m:val=",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ar-AE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Good solutions correspond to low-energy or high-cost states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0F7D37-FB59-10B6-33B6-5968E5EA65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661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1728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C4538-7E74-7F40-AA71-C9412010A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9EF9E-C7DF-EEC9-83D7-9EF3544B0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4-Node </a:t>
            </a:r>
            <a:r>
              <a:rPr lang="en-US" dirty="0" err="1"/>
              <a:t>MaxCut</a:t>
            </a:r>
            <a:r>
              <a:rPr lang="en-US" dirty="0"/>
              <a:t>: QAOA and VQE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ED6B29-E824-BDF2-9843-B9A46FB55C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QAOA</a:t>
            </a:r>
          </a:p>
          <a:p>
            <a:r>
              <a:rPr lang="en-US" dirty="0"/>
              <a:t>Start from a simple initial state</a:t>
            </a:r>
          </a:p>
          <a:p>
            <a:r>
              <a:rPr lang="en-US" dirty="0"/>
              <a:t>Apply:</a:t>
            </a:r>
          </a:p>
          <a:p>
            <a:pPr lvl="1"/>
            <a:r>
              <a:rPr lang="en-US" dirty="0"/>
              <a:t>cost operator</a:t>
            </a:r>
          </a:p>
          <a:p>
            <a:pPr lvl="1"/>
            <a:r>
              <a:rPr lang="en-US" dirty="0"/>
              <a:t>mixer operator</a:t>
            </a:r>
          </a:p>
          <a:p>
            <a:r>
              <a:rPr lang="en-US" dirty="0"/>
              <a:t>Repeat for chosen depth 𝑝</a:t>
            </a:r>
          </a:p>
          <a:p>
            <a:r>
              <a:rPr lang="en-US" dirty="0"/>
              <a:t>Optimize circuit parameters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FBFBBE-351F-578E-2F6E-4F335E48AA3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VQE</a:t>
            </a:r>
          </a:p>
          <a:p>
            <a:r>
              <a:rPr lang="en-US" dirty="0"/>
              <a:t>Choose a parameterized ansatz</a:t>
            </a:r>
          </a:p>
          <a:p>
            <a:r>
              <a:rPr lang="en-US" dirty="0"/>
              <a:t>Measure expected energy of the Hamiltonian</a:t>
            </a:r>
          </a:p>
          <a:p>
            <a:r>
              <a:rPr lang="en-US" dirty="0"/>
              <a:t>Use a classical optimizer to reduce the energy</a:t>
            </a:r>
          </a:p>
        </p:txBody>
      </p:sp>
    </p:spTree>
    <p:extLst>
      <p:ext uri="{BB962C8B-B14F-4D97-AF65-F5344CB8AC3E}">
        <p14:creationId xmlns:p14="http://schemas.microsoft.com/office/powerpoint/2010/main" val="3610746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53820-8A6F-C2E5-DD19-87968AFF7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AE5A1-80BA-6D69-AA9D-6D0D447CB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4-Node </a:t>
            </a:r>
            <a:r>
              <a:rPr lang="en-US" dirty="0" err="1"/>
              <a:t>MaxCut</a:t>
            </a:r>
            <a:r>
              <a:rPr lang="en-US" dirty="0"/>
              <a:t>: Applying QAOA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7EDDF1-6893-2B8F-B61B-4FE0BEF265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0009" y="1833659"/>
            <a:ext cx="5654049" cy="33259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3DD8C6-3CBE-DE0E-DB91-EEC635734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7943" y="1833659"/>
            <a:ext cx="5572106" cy="332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180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30B62-FA21-3024-FA6B-C2435C017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C9198-E2B8-AD5C-E293-2111B0316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4-Node </a:t>
            </a:r>
            <a:r>
              <a:rPr lang="en-US" dirty="0" err="1"/>
              <a:t>MaxCut</a:t>
            </a:r>
            <a:r>
              <a:rPr lang="en-US" dirty="0"/>
              <a:t>: QAOA 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93C1DD-3AE3-E10B-3881-A11AAACB8B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0478" y="1690688"/>
            <a:ext cx="8064391" cy="4032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766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3D62F-42F2-91E4-11AE-0B7308AEC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B37B0-09BB-24A5-8F22-8C884E7C6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3EF2B-0710-6491-6BA2-77288C341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Continue studying the papers</a:t>
            </a:r>
          </a:p>
          <a:p>
            <a:r>
              <a:rPr lang="en-US" dirty="0"/>
              <a:t>Practice QUBO Modeling techniques:</a:t>
            </a:r>
          </a:p>
          <a:p>
            <a:pPr lvl="1"/>
            <a:r>
              <a:rPr lang="en-US" dirty="0"/>
              <a:t>model more complex setups to QUBO</a:t>
            </a:r>
          </a:p>
          <a:p>
            <a:pPr lvl="1"/>
            <a:r>
              <a:rPr lang="en-US" dirty="0"/>
              <a:t>consider problems with different constraints, like Min Vertex Cover</a:t>
            </a:r>
          </a:p>
          <a:p>
            <a:pPr lvl="1"/>
            <a:r>
              <a:rPr lang="en-US" dirty="0"/>
              <a:t>apply QAOA and VQE for those problems</a:t>
            </a:r>
          </a:p>
          <a:p>
            <a:r>
              <a:rPr lang="en-US" dirty="0"/>
              <a:t>Research about QUBO optimization tricks:</a:t>
            </a:r>
          </a:p>
          <a:p>
            <a:pPr lvl="1"/>
            <a:r>
              <a:rPr lang="en-US" dirty="0"/>
              <a:t>converting a QUBO to its simpler version</a:t>
            </a:r>
          </a:p>
          <a:p>
            <a:pPr lvl="1"/>
            <a:r>
              <a:rPr lang="en-US" dirty="0"/>
              <a:t>this lets us work with a smaller QUBO problem</a:t>
            </a:r>
          </a:p>
        </p:txBody>
      </p:sp>
    </p:spTree>
    <p:extLst>
      <p:ext uri="{BB962C8B-B14F-4D97-AF65-F5344CB8AC3E}">
        <p14:creationId xmlns:p14="http://schemas.microsoft.com/office/powerpoint/2010/main" val="1074960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688</Words>
  <Application>Microsoft Office PowerPoint</Application>
  <PresentationFormat>Widescreen</PresentationFormat>
  <Paragraphs>112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Office Theme</vt:lpstr>
      <vt:lpstr>PHYS 390: Independent Study  Variational Quantum Algorithms for Combinatorial Optimization and Modeling Progress Presentation</vt:lpstr>
      <vt:lpstr>Weekly Log: 2026.03.06 - 2026.03.13</vt:lpstr>
      <vt:lpstr>QUBO:  Quantum Unconstrained Binary Optimization</vt:lpstr>
      <vt:lpstr>Quantum Approximate Optimization Algorithm &amp; Variational Quantum Eigen Solver</vt:lpstr>
      <vt:lpstr>Benchmark Problems</vt:lpstr>
      <vt:lpstr>Example: 4-Node MaxCut</vt:lpstr>
      <vt:lpstr>4-Node MaxCut: Classical Objective</vt:lpstr>
      <vt:lpstr>4-Node MaxCut: QUBO Form</vt:lpstr>
      <vt:lpstr>4-Node MaxCut: Ising / Hamiltonian Form</vt:lpstr>
      <vt:lpstr>4-Node MaxCut: QAOA and VQE</vt:lpstr>
      <vt:lpstr>4-Node MaxCut: Applying QAOA</vt:lpstr>
      <vt:lpstr>4-Node MaxCut: QAOA Results</vt:lpstr>
      <vt:lpstr>TODO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OMER BURAK DURAN</dc:creator>
  <cp:lastModifiedBy>OMER BURAK DURAN</cp:lastModifiedBy>
  <cp:revision>13</cp:revision>
  <dcterms:created xsi:type="dcterms:W3CDTF">2026-03-11T08:01:14Z</dcterms:created>
  <dcterms:modified xsi:type="dcterms:W3CDTF">2026-03-12T13:42:31Z</dcterms:modified>
</cp:coreProperties>
</file>